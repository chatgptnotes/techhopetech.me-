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94A3B8"/>
                </a:solidFill>
                <a:latin typeface="Inter"/>
              </a:rPr>
              <a:t>HOPETECH GROUP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AI · Healthcare · Industrial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Inter"/>
              </a:rPr>
              <a:t>A portfolio of products, projects and clients across India and the UAE — built by Dr. BK Murali and Biji Thomas, delivered through DrM Hope Softwares, Bettroi FZE, HopePhoenix and Betser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5120640" cy="1280160"/>
          </a:xfrm>
          <a:prstGeom prst="rect">
            <a:avLst/>
          </a:prstGeom>
          <a:solidFill>
            <a:srgbClr val="1E293B"/>
          </a:solidFill>
          <a:ln w="31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Dr. BK Murali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32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5B4FC"/>
                </a:solidFill>
                <a:latin typeface="Inter"/>
              </a:rPr>
              <a:t>Founder, DrM Hope · CTO, Bettroi · Director, Betser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Nagpur, India · BNI Diorite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5029200"/>
            <a:ext cx="5120640" cy="1280160"/>
          </a:xfrm>
          <a:prstGeom prst="rect">
            <a:avLst/>
          </a:prstGeom>
          <a:solidFill>
            <a:srgbClr val="1E293B"/>
          </a:solidFill>
          <a:ln w="31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Biji Thomas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532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5B4FC"/>
                </a:solidFill>
                <a:latin typeface="Inter"/>
              </a:rPr>
              <a:t>CEO, Bettroi FZE · Co-Founder, HopePhoenix · Betser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852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Dubai, UAE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The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Four operating companies, one shared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486400" cy="21945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164592" cy="2194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Inter"/>
              </a:rPr>
              <a:t>Bettroi FZE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Inter"/>
              </a:rPr>
              <a:t>DUBAI SILICON OASIS · UAE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60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AI-driven business process automation &amp;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Better business through AI automation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486400" cy="21945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164592" cy="21945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737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Inter"/>
              </a:rPr>
              <a:t>DrM Hope Softwares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4F46E5"/>
                </a:solidFill>
                <a:latin typeface="Inter"/>
              </a:rPr>
              <a:t>NAGPUR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Healthcare AI, generative AI, fintech &amp; autonomous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Founded 2010 · 100+ AI projects · 98% satisfaction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486400" cy="21945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64592" cy="21945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605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Inter"/>
              </a:rPr>
              <a:t>HopePhoenix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7C3AED"/>
                </a:solidFill>
                <a:latin typeface="Inter"/>
              </a:rPr>
              <a:t>INDIA × UAE JOINT VENTURE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Where Medicine Meets Machines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30+ products · 100+ team · India &amp; Middle East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31920"/>
            <a:ext cx="5486400" cy="21945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164592" cy="219456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605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Inter"/>
              </a:rPr>
              <a:t>Betser Life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EC4899"/>
                </a:solidFill>
                <a:latin typeface="Inter"/>
              </a:rPr>
              <a:t>THIRUVANANTHAPURAM · 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Preventive health platform · digital + applied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750+ healthcare users across 12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Numbers compiled from public site disclosures and our GitHub footprint.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3611880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Inter"/>
              </a:rP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AI projects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DrM Hope Softwares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61188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8745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10B981"/>
                </a:solidFill>
                <a:latin typeface="Inter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Client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self-reported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3611880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745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4F46E5"/>
                </a:solidFill>
                <a:latin typeface="Inter"/>
              </a:rPr>
              <a:t>133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Public GitHub repositories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github.com/chatgptnotes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8620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361188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7C3AED"/>
                </a:solidFill>
                <a:latin typeface="Inter"/>
              </a:rPr>
              <a:t>30+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Live products in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HopePhoenix portfolio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8620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886200"/>
            <a:ext cx="3611880" cy="10972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2062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C4899"/>
                </a:solidFill>
                <a:latin typeface="Inter"/>
              </a:rPr>
              <a:t>750+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Healthcare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Betser Life · 12 countries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886200"/>
            <a:ext cx="3611880" cy="21031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886200"/>
            <a:ext cx="361188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2062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59E0B"/>
                </a:solidFill>
                <a:latin typeface="Inter"/>
              </a:rPr>
              <a:t>100+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Engineering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across India &amp; UAE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Healthcare AI · Hospital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Software running real hospitals + AI tools for clinicians.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81912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AdamRIT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Modern HMIS · ESIC patient mapping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81912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OnePatientOneDoctor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AI-led patient–doctor continuity ecosystem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81912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Hospital neural network — clinical decision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IHMS / HMS+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Hospital management + legacy-system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788920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Doctors Digital Office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OPD / IPD / ICU module suite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88920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Yellow Fever vacc. ledger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Government-grade vaccine certificate platform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95928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Clinivoice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Voice-driven clinic notes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995928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NABH Online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NABH compliance &amp; audit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3995928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Raftaar Health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Patient transport &amp; ambulance ops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02936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Justdial Lead Mgmt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Justdial → Hope Hospital lead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43400" y="5202936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DigiHealthTwin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Diabetes digital-twin app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5202936"/>
            <a:ext cx="4572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OneScanOneLife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Mass screening / camp 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Industrial Automation · SCADA ·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Software for the shop floor, the substation and the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81912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FactoryPulse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Manufacturing execution system (MES)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81912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Ampris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Electrical SCADA &amp; grid orchestration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81912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8191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FlowNexus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Oil-and-gas pipeline telemetry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NexaProc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Process automation &amp; batch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788920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PLC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AI-generated PLC code (Siemens / Rockwell / Schneider)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624328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88920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7889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AutoPanel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17296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Voice-driven control-panel CAD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95928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EcoLogic PLC Asst.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Tag mapping + alarm engineering copilot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995928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SCADA.work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Browser-first SCADA HMI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831336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3995928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995928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Manikaran Dam Safety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379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IoT compliance &amp; reporting for Indian dams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02936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Sterling Tender Gen.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Auto tender doc generator (Sterling Electricals)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43400" y="5202936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IOC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Indian Oil Corp pilot work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5038344"/>
            <a:ext cx="3611880" cy="10789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5202936"/>
            <a:ext cx="4572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520293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Vision Claw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586984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Inter"/>
              </a:rPr>
              <a:t>Vision AI for industrial pick-and-place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Enterprise AI · Agents ·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Bettroi platform stack and standalone AI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AgentX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Autonomous AI agents per business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361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745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AI Command Center for the enterprise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361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EngageX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Omnichannel customer-engagement 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37744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1460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49631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ConnectX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Omnichannel communication center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37744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51460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49631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Privata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Offline / edge AI assistant for sensitive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37744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51460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49631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AISHU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Education / tutoring 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3756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45643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AgentSDR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947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Outbound sales-rep AI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33756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47472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45643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ZeroRiskAgent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7947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Sanctions-screening &amp; risk 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333756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347472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45643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Linkist NFC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7947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Smart NFC business cards with AI back-office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9768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43484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IndiaMonitor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754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Real-time India intelligence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429768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43400" y="443484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MovingEstimator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754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Video-scan AI for moving / packing estimates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429768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443484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PrewedAI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7548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Pre-wedding AI photography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25780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39496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37667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Hisab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715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Proposal &amp; project tracker (hisab.work)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3400" y="525780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43400" y="539496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0" y="537667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PulseOfProject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5715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Project heartbeat dashboard (pulseofproject.com)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5257800"/>
            <a:ext cx="3611880" cy="8412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38160" y="5394960"/>
            <a:ext cx="457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537667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Ironbark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57150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Inter"/>
              </a:rPr>
              <a:t>Self-improving learning loop for Claude Code (open-source)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Government &amp; Public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Where our work touches the public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577840" cy="2468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F59E0B"/>
                </a:solidFill>
                <a:latin typeface="Inter"/>
              </a:rPr>
              <a:t>SHARJAH, UAE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Al Madam Municipality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Citizen-services portal for Al Madam Municipality (Sharjah, UAE).
React + TypeScript + Vite, deployed on Vercel.
github.com/chatgptnotes/almadamonline · almadamonline.vercel.app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577840" cy="24688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F59E0B"/>
                </a:solidFill>
                <a:latin typeface="Inter"/>
              </a:rPr>
              <a:t>DUBAI, UAE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Government of Dubai Media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JotForm Workflow Dashboard · Approval-Level Tracker.
Sponsor: Huzaifa Dawasaz, Technical Project Manager (since 2022)
and IT Infrastructure Engineer (since 2015) at the Office.
Bettroi FZE delivery — operating from DTEC, Dubai Silicon Oasis.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Inter"/>
              </a:rPr>
              <a:t>Other public-sector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Manikaran Dam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469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IoT compliance &amp; automated reporting for Indian dam authorities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5262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6634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451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IOC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469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Indian Oil Corporation industrial-automation engagement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5262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6634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6451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NABH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9469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NABH (national hospital accreditation) compliance toolchain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406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5778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59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Yellow Fever Ledger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613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Vaccine certification &amp; ledger with government format compliance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54406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55778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559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Sterling Tender Gen.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8613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Government-tender document generator for Sterling Electricals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440680"/>
            <a:ext cx="3611880" cy="80467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5577840"/>
            <a:ext cx="457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5559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ESIC AdamRIT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8613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Inter"/>
              </a:rPr>
              <a:t>Patient-mapping system for ESIC scheme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Hospital &amp; Enterprise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Self-operated hospitals + enterprises served via Bettroi &amp; DrM Hope.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577840" cy="31089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10B981"/>
                </a:solidFill>
                <a:latin typeface="Inter"/>
              </a:rPr>
              <a:t>OPERATED BY THE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Two NABH-accredited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Hope Hospital, Nagpur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Super-specialty · NABH-accredited · operating since 2005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Ayushman Nagpur 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Orthopedic &amp; spine surgery centre · founded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577840" cy="31089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00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2563EB"/>
                </a:solidFill>
                <a:latin typeface="Inter"/>
              </a:rPr>
              <a:t>NAMED SOFTWARE &amp; ADVISORY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5212080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ESIC (Employees' State Insurance) — AdamRIT patient-mapping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Sterling Electricals — auto tender doc generator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Indian Oil Corporation — industrial-automation pilot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Linkist (NFC smart cards) — AI back-office platform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Justdial (Hope Hospital pipeline) — lead-management integration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Vivah GMC — wedding planning portal (vivahgmc.com)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4cbz, AIINMail, AutopanelDesign — Bettroi-built SaaS sites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563EB"/>
                </a:solidFill>
                <a:latin typeface="Inter"/>
              </a:rPr>
              <a:t>▸  </a:t>
            </a:r>
            <a:r>
              <a:rPr sz="1100">
                <a:solidFill>
                  <a:srgbClr val="0F172A"/>
                </a:solidFill>
                <a:latin typeface="Inter"/>
              </a:rPr>
              <a:t>Bettroi disclosed: 50+ enterprise clients (GCC + India)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1338560" cy="1463040"/>
          </a:xfrm>
          <a:prstGeom prst="rect">
            <a:avLst/>
          </a:prstGeom>
          <a:solidFill>
            <a:srgbClr val="FEF3C7"/>
          </a:solidFill>
          <a:ln w="317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92400E"/>
                </a:solidFill>
                <a:latin typeface="Inter"/>
              </a:rPr>
              <a:t>A NOTE ON 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8350F"/>
                </a:solidFill>
                <a:latin typeface="Inter"/>
              </a:rPr>
              <a:t>Several enterprise engagements are under NDA and are not named here. The "50+ enterprise clients" figure on bettroi.com aggregates Bettroi's GCC + India roster across automation, healthcare, and oil-and-gas verticals. We can share specifics in a private 1:1 once a mutual NDA is in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Engineering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133 public repositories on github.com/chatgptnotes — a small slice of what we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86400" cy="23317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48640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819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Hospital &amp;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029200" cy="1691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adamrit · adamrit-nextjs · adamrit_saas · adamrit-legacy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drmhope.com-ESIC · drmhope-multitenancy · New_HMIS_Next_js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aide · onepatientonedoctorwork · clinivoice · nabh.online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ayushman-hospital (×4 sites) · hopehospital.com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yellowfever (vaccine ledger) · one-scan-one-life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RaftaarHealth · DigiHealthtwin · justdialwork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486400" cy="23317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819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Industrial / SCADA /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29200" cy="1691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plcautopilot.com · plcautopilot-nextjs_with_AI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EcoLogic-PLC-Assistant · autopaneldesign.com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factorypulse.site · scada.work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manikaran-dam-safety · sterling-tender-gen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VisionClawRN · openclaw-for-hostinger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86400" cy="23317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5486400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Enterprise AI /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5029200" cy="1691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agentsdr · zeroriskagent.com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Linkist-01 · indiamonitorapp · moving-estimator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aiinmail.com · economystic.com · 2menco · 4cbz.com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jotform-dashboard · onepagebuild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ironbark (open-source skill-harvest loop)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86200"/>
            <a:ext cx="5486400" cy="23317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5486400" cy="640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50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Government / 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60"/>
            <a:ext cx="5029200" cy="16916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jotform-dashboard — Government of Dubai Media Office (UAE)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almadamonline — Al Madam Municipality, Sharjah (UAE)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manikaran-dam-safety — Indian dam compliance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ioc — Indian Oil Corp engagement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Inter"/>
              </a:rPr>
              <a:t>▸  </a:t>
            </a:r>
            <a:r>
              <a:rPr sz="1000">
                <a:solidFill>
                  <a:srgbClr val="0F172A"/>
                </a:solidFill>
                <a:latin typeface="Inter"/>
              </a:rPr>
              <a:t>nabh — National accreditation toolchain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How We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Standard stack across the portfolio — fast to ship, easy to hand 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HopeTech Portfolio · 25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64592" cy="13716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AI &amp;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67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GPT-4 / Claude / Gemini · LangChain · custom agents ·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164592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Web &amp;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67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Next.js · React · TypeScript · Tailwind · Vercel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39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63239"/>
            <a:ext cx="164592" cy="13716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918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76471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Supabase · PostgreSQL · pgvector · Prisma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63239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063239"/>
            <a:ext cx="164592" cy="13716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2918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Industrial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76471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Modbus / OPC-UA · Node-RED · custom PLC bridges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164592" cy="137160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Mobile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8523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React Native (VisionClaw) · iOS / Android emergency apps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164592" cy="13716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800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DevOps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8523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Hostinger VPS · Docker · GitHub Actions · CI/CD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023360" cy="16459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F59E0B"/>
                </a:solidFill>
                <a:latin typeface="Inter"/>
              </a:rPr>
              <a:t>CONTACT · 121 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Inter"/>
              </a:rPr>
              <a:t>Let's talk.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5349240" cy="2194560"/>
          </a:xfrm>
          <a:prstGeom prst="rect">
            <a:avLst/>
          </a:prstGeom>
          <a:solidFill>
            <a:srgbClr val="1E293B"/>
          </a:solidFill>
          <a:ln w="31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F59E0B"/>
                </a:solidFill>
                <a:latin typeface="Inter"/>
              </a:rPr>
              <a:t>INDIA 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Inter"/>
              </a:rPr>
              <a:t>Dr. BK Murali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Founder &amp;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274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+91 93731 11709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0055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cmd@hopehospital.com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1266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hopetech.me · drmhope.com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383280"/>
            <a:ext cx="5349240" cy="2194560"/>
          </a:xfrm>
          <a:prstGeom prst="rect">
            <a:avLst/>
          </a:prstGeom>
          <a:solidFill>
            <a:srgbClr val="1E293B"/>
          </a:solidFill>
          <a:ln w="31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300">
                <a:solidFill>
                  <a:srgbClr val="F59E0B"/>
                </a:solidFill>
                <a:latin typeface="Inter"/>
              </a:rPr>
              <a:t>UAE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Inter"/>
              </a:rPr>
              <a:t>Biji Thomas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CEO, Bettroi FZE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274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A5, Techno-Hub, DTEC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0055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Dubai Silicon Oasis, UAE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1266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Inter"/>
              </a:rPr>
              <a:t>bettroi.com · hopephoenix.in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Card link · hopetech.me/bni/my-card.html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